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15"/>
  </p:notesMasterIdLst>
  <p:handoutMasterIdLst>
    <p:handoutMasterId r:id="rId16"/>
  </p:handoutMasterIdLst>
  <p:sldIdLst>
    <p:sldId id="2708" r:id="rId3"/>
    <p:sldId id="2387" r:id="rId4"/>
    <p:sldId id="2447" r:id="rId5"/>
    <p:sldId id="2716" r:id="rId6"/>
    <p:sldId id="2798" r:id="rId7"/>
    <p:sldId id="2805" r:id="rId8"/>
    <p:sldId id="2807" r:id="rId9"/>
    <p:sldId id="2709" r:id="rId10"/>
    <p:sldId id="2771" r:id="rId11"/>
    <p:sldId id="2806" r:id="rId12"/>
    <p:sldId id="2808" r:id="rId13"/>
    <p:sldId id="2760" r:id="rId14"/>
  </p:sldIdLst>
  <p:sldSz cx="12192000" cy="6858000"/>
  <p:notesSz cx="7099300" cy="10234613"/>
  <p:custDataLst>
    <p:tags r:id="rId17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4DC03C-8207-8749-BAA3-4731FAC10457}" v="18" dt="2024-04-22T07:42:31.278"/>
    <p1510:client id="{187D5BF7-97E8-7843-9DA0-39A524779207}" v="34" dt="2024-04-21T08:30:27.887"/>
    <p1510:client id="{B3A5D6E2-E1E7-F74F-B1B9-B3FB273062A8}" v="355" dt="2024-04-21T15:23:53.9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25"/>
    <p:restoredTop sz="94692"/>
  </p:normalViewPr>
  <p:slideViewPr>
    <p:cSldViewPr snapToGrid="0">
      <p:cViewPr varScale="1">
        <p:scale>
          <a:sx n="63" d="100"/>
          <a:sy n="63" d="100"/>
        </p:scale>
        <p:origin x="75" y="354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552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10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116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FA53E-010F-7861-EC67-4624ECE0E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A2BB2A-CA9B-723F-E80F-43AE237D5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71D737-3BDC-5546-60CE-45E7BAB7B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同样功能用</a:t>
            </a:r>
            <a:r>
              <a:rPr lang="en-US" altLang="zh-CN" dirty="0"/>
              <a:t>c</a:t>
            </a:r>
            <a:r>
              <a:rPr lang="zh-CN" altLang="en-US" dirty="0"/>
              <a:t>实现？</a:t>
            </a:r>
          </a:p>
        </p:txBody>
      </p:sp>
    </p:spTree>
    <p:extLst>
      <p:ext uri="{BB962C8B-B14F-4D97-AF65-F5344CB8AC3E}">
        <p14:creationId xmlns:p14="http://schemas.microsoft.com/office/powerpoint/2010/main" val="3163455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6AA48-1A73-C56D-9722-D0595EDF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D070C8-03BF-00F8-2511-40559EBD1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A10BC0-6EEE-4FC3-9CB4-D0EB10814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645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7F633-9DDA-7D38-D4E0-08E31F25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B9BA94-7FD9-4C42-7D2B-1D10A4263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A71E78-95A9-E769-1A15-998B025FD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74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555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009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794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82434-6F4A-DEBA-4D3E-1D972A515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C80EA0-7700-812D-D552-2878E0849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ED796E-39E3-25B4-DF7C-6C4FB09B8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454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313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asterio.readthedocs.io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242204" y="1685332"/>
            <a:ext cx="9546566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zh-CN" altLang="en-US" sz="5400" b="1" dirty="0">
                <a:solidFill>
                  <a:srgbClr val="FF0000"/>
                </a:solidFill>
                <a:latin typeface="微软雅黑"/>
                <a:ea typeface="微软雅黑"/>
              </a:rPr>
              <a:t>第</a:t>
            </a:r>
            <a:r>
              <a:rPr lang="en-US" altLang="zh-CN" sz="5400" b="1" dirty="0">
                <a:solidFill>
                  <a:srgbClr val="FF0000"/>
                </a:solidFill>
                <a:latin typeface="微软雅黑"/>
                <a:ea typeface="微软雅黑"/>
              </a:rPr>
              <a:t>2</a:t>
            </a:r>
            <a:r>
              <a:rPr lang="zh-CN" altLang="en-US" sz="5400" b="1" dirty="0">
                <a:solidFill>
                  <a:srgbClr val="FF0000"/>
                </a:solidFill>
                <a:latin typeface="微软雅黑"/>
                <a:ea typeface="微软雅黑"/>
              </a:rPr>
              <a:t>节：栅格数据读写及可视化</a:t>
            </a:r>
            <a:endParaRPr lang="zh-CN" altLang="zh-CN" sz="540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罗 新</a:t>
            </a:r>
            <a:endParaRPr lang="en-US" altLang="zh-CN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lang="en-US" altLang="zh-CN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endParaRPr lang="zh-CN" altLang="en-US" sz="32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5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831819" y="5474698"/>
            <a:ext cx="862795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 err="1">
                <a:solidFill>
                  <a:prstClr val="black"/>
                </a:solidFill>
                <a:latin typeface="微软雅黑"/>
                <a:ea typeface="微软雅黑"/>
              </a:rPr>
              <a:t>邮箱</a:t>
            </a:r>
            <a:r>
              <a:rPr lang="en-CN" sz="2000" dirty="0">
                <a:solidFill>
                  <a:prstClr val="black"/>
                </a:solidFill>
                <a:latin typeface="微软雅黑"/>
                <a:ea typeface="微软雅黑"/>
              </a:rPr>
              <a:t>: xinluo_xin@ynu.edu.cn</a:t>
            </a:r>
          </a:p>
          <a:p>
            <a:pPr>
              <a:defRPr/>
            </a:pPr>
            <a:r>
              <a:rPr lang="en-CN" sz="2000" dirty="0">
                <a:solidFill>
                  <a:prstClr val="black"/>
                </a:solidFill>
                <a:latin typeface="微软雅黑"/>
                <a:ea typeface="微软雅黑"/>
              </a:rPr>
              <a:t>地址</a:t>
            </a:r>
            <a:r>
              <a:rPr lang="zh-CN" altLang="en-US" sz="2000" dirty="0">
                <a:solidFill>
                  <a:prstClr val="black"/>
                </a:solidFill>
                <a:latin typeface="微软雅黑"/>
                <a:ea typeface="微软雅黑"/>
              </a:rPr>
              <a:t>：地球科学学院</a:t>
            </a:r>
            <a:r>
              <a:rPr lang="en-US" altLang="zh-CN" sz="2000" dirty="0">
                <a:solidFill>
                  <a:prstClr val="black"/>
                </a:solidFill>
                <a:latin typeface="微软雅黑"/>
                <a:ea typeface="微软雅黑"/>
              </a:rPr>
              <a:t>1327</a:t>
            </a:r>
            <a:r>
              <a:rPr lang="zh-CN" altLang="en-US" sz="2000" dirty="0">
                <a:solidFill>
                  <a:prstClr val="black"/>
                </a:solidFill>
                <a:latin typeface="微软雅黑"/>
                <a:ea typeface="微软雅黑"/>
              </a:rPr>
              <a:t>办公室</a:t>
            </a:r>
            <a:endParaRPr lang="en-CN" sz="20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694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282" y="6233663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6743691" y="261082"/>
            <a:ext cx="3716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云南大学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《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 开源GIS 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》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课程第</a:t>
            </a:r>
            <a:r>
              <a:rPr lang="zh-CN" altLang="en-US" sz="1800" b="1" dirty="0">
                <a:solidFill>
                  <a:schemeClr val="bg2"/>
                </a:solidFill>
                <a:latin typeface="+mn-ea"/>
                <a:ea typeface="+mn-ea"/>
              </a:rPr>
              <a:t>三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6586071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Calibr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ED16A1-79B8-7DB1-1CC1-250B051BAD58}"/>
              </a:ext>
            </a:extLst>
          </p:cNvPr>
          <p:cNvGrpSpPr/>
          <p:nvPr/>
        </p:nvGrpSpPr>
        <p:grpSpPr>
          <a:xfrm>
            <a:off x="1904577" y="3872142"/>
            <a:ext cx="6734646" cy="717997"/>
            <a:chOff x="2121801" y="3511390"/>
            <a:chExt cx="5718901" cy="576000"/>
          </a:xfrm>
        </p:grpSpPr>
        <p:sp>
          <p:nvSpPr>
            <p:cNvPr id="13" name="椭圆 12"/>
            <p:cNvSpPr/>
            <p:nvPr/>
          </p:nvSpPr>
          <p:spPr>
            <a:xfrm>
              <a:off x="2121801" y="3511390"/>
              <a:ext cx="62292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777899" y="3535749"/>
              <a:ext cx="5062803" cy="51850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栅格数据可视化</a:t>
              </a:r>
              <a:endParaRPr lang="en-US" altLang="zh-CN" sz="36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696373" y="260648"/>
            <a:ext cx="1608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5400" b="1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CAA61D-767A-24EA-9072-7425684288BB}"/>
              </a:ext>
            </a:extLst>
          </p:cNvPr>
          <p:cNvGrpSpPr/>
          <p:nvPr/>
        </p:nvGrpSpPr>
        <p:grpSpPr>
          <a:xfrm>
            <a:off x="1904578" y="2431290"/>
            <a:ext cx="6649827" cy="772176"/>
            <a:chOff x="2121802" y="2115450"/>
            <a:chExt cx="5221533" cy="576000"/>
          </a:xfrm>
        </p:grpSpPr>
        <p:sp>
          <p:nvSpPr>
            <p:cNvPr id="4" name="椭圆 9">
              <a:extLst>
                <a:ext uri="{FF2B5EF4-FFF2-40B4-BE49-F238E27FC236}">
                  <a16:creationId xmlns:a16="http://schemas.microsoft.com/office/drawing/2014/main" id="{E22E439B-4B3F-A527-61D0-3ED55D24E856}"/>
                </a:ext>
              </a:extLst>
            </p:cNvPr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5" name="矩形 11">
              <a:extLst>
                <a:ext uri="{FF2B5EF4-FFF2-40B4-BE49-F238E27FC236}">
                  <a16:creationId xmlns:a16="http://schemas.microsoft.com/office/drawing/2014/main" id="{494DAA55-5621-28DB-D255-E0EBB6C6477B}"/>
                </a:ext>
              </a:extLst>
            </p:cNvPr>
            <p:cNvSpPr/>
            <p:nvPr/>
          </p:nvSpPr>
          <p:spPr>
            <a:xfrm>
              <a:off x="2697802" y="2150557"/>
              <a:ext cx="4645533" cy="48212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数据读写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612036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0668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3" y="3868892"/>
            <a:ext cx="102119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一、栅格数据读写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0668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59012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一、栅格数据读写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1FEA2-C046-FD82-2800-2CB513792080}"/>
              </a:ext>
            </a:extLst>
          </p:cNvPr>
          <p:cNvSpPr txBox="1"/>
          <p:nvPr/>
        </p:nvSpPr>
        <p:spPr>
          <a:xfrm>
            <a:off x="120650" y="932925"/>
            <a:ext cx="97374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QGIS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软件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-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读写（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复习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）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读入：将栅格数据拖拽至视图框。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写出：点击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Export-Save as...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70793DA-5517-758B-6FCD-52412DB2B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208" y="1174750"/>
            <a:ext cx="4752315" cy="5261790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35B001DA-D35B-6AE2-3D7E-0A0F58D15D2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95"/>
          <a:stretch/>
        </p:blipFill>
        <p:spPr>
          <a:xfrm>
            <a:off x="486936" y="2971800"/>
            <a:ext cx="5577487" cy="327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7359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47716-157F-0517-6E2D-C1B1560CA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2C7EAF9-D474-88D3-1B50-E28CB476A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07" y="8526"/>
            <a:ext cx="10459366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一、栅格数据读写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E5CF9F-0DB8-AD0E-1D7B-BE9833286390}"/>
              </a:ext>
            </a:extLst>
          </p:cNvPr>
          <p:cNvSpPr txBox="1"/>
          <p:nvPr/>
        </p:nvSpPr>
        <p:spPr>
          <a:xfrm>
            <a:off x="208015" y="846749"/>
            <a:ext cx="1014232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 err="1">
                <a:solidFill>
                  <a:srgbClr val="333333"/>
                </a:solidFill>
                <a:latin typeface="+mn-ea"/>
                <a:ea typeface="+mn-ea"/>
              </a:rPr>
              <a:t>Rasterio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库简介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360130-2AF9-3333-DD74-1FDFCE87A2DC}"/>
              </a:ext>
            </a:extLst>
          </p:cNvPr>
          <p:cNvSpPr txBox="1"/>
          <p:nvPr/>
        </p:nvSpPr>
        <p:spPr>
          <a:xfrm>
            <a:off x="442032" y="1524484"/>
            <a:ext cx="9220128" cy="4448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500" b="1" dirty="0">
                <a:solidFill>
                  <a:schemeClr val="bg2"/>
                </a:solidFill>
                <a:latin typeface="+mn-ea"/>
                <a:ea typeface="+mn-ea"/>
              </a:rPr>
              <a:t>定义</a:t>
            </a:r>
            <a:r>
              <a:rPr lang="en-US" altLang="zh-CN" sz="2500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基于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GDAL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的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库，专注遥感栅格数据的读写与处理</a:t>
            </a:r>
            <a:endParaRPr lang="en-US" altLang="zh-CN" sz="25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500" b="1" dirty="0">
                <a:solidFill>
                  <a:schemeClr val="bg2"/>
                </a:solidFill>
                <a:latin typeface="+mn-ea"/>
                <a:ea typeface="+mn-ea"/>
              </a:rPr>
              <a:t>核心优势</a:t>
            </a:r>
            <a:r>
              <a:rPr lang="en-US" altLang="zh-CN" sz="2500" dirty="0">
                <a:solidFill>
                  <a:schemeClr val="bg2"/>
                </a:solidFill>
                <a:latin typeface="+mn-ea"/>
                <a:ea typeface="+mn-ea"/>
              </a:rPr>
              <a:t>:</a:t>
            </a:r>
          </a:p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）简洁的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API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设计（告别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GDAL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复杂接口）；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）高性能内存管理（处理大型数据集）；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）无缝集成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Pandas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等科学计算库。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500" b="1" dirty="0">
                <a:solidFill>
                  <a:schemeClr val="bg2"/>
                </a:solidFill>
                <a:latin typeface="+mn-ea"/>
                <a:ea typeface="+mn-ea"/>
              </a:rPr>
              <a:t>适用场景</a:t>
            </a:r>
            <a:r>
              <a:rPr lang="en-US" altLang="zh-CN" sz="2500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遥感、气象、地图服务、地形分析</a:t>
            </a:r>
            <a:endParaRPr lang="en-US" altLang="zh-CN" sz="25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29865DA-CE8D-9532-ED2B-61FCABF5FBE3}"/>
              </a:ext>
            </a:extLst>
          </p:cNvPr>
          <p:cNvSpPr txBox="1"/>
          <p:nvPr/>
        </p:nvSpPr>
        <p:spPr>
          <a:xfrm>
            <a:off x="2097109" y="6163004"/>
            <a:ext cx="80557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官方文档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>
                <a:solidFill>
                  <a:srgbClr val="333333"/>
                </a:solidFill>
                <a:latin typeface="Roboto" panose="02000000000000000000" pitchFamily="2" charset="0"/>
                <a:hlinkClick r:id="rId3"/>
              </a:rPr>
              <a:t>https://rasterio.readthedocs.io</a:t>
            </a:r>
            <a:endParaRPr lang="en-US" altLang="zh-CN" dirty="0">
              <a:latin typeface="Roboto" panose="02000000000000000000" pitchFamily="2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9113D16-0CC4-EF6E-D04B-DE6CF74998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499"/>
          <a:stretch>
            <a:fillRect/>
          </a:stretch>
        </p:blipFill>
        <p:spPr>
          <a:xfrm>
            <a:off x="7040881" y="2210820"/>
            <a:ext cx="4978400" cy="393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9464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55ECA-028C-E862-0CBB-675E72EBE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CE48888-3E6A-DF23-618D-7B5198010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73" y="8526"/>
            <a:ext cx="10450699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二、栅格数据读写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00878E-A1A0-3D92-06AF-084795FE8B74}"/>
              </a:ext>
            </a:extLst>
          </p:cNvPr>
          <p:cNvSpPr txBox="1"/>
          <p:nvPr/>
        </p:nvSpPr>
        <p:spPr>
          <a:xfrm>
            <a:off x="441140" y="942851"/>
            <a:ext cx="11232819" cy="1616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遥感栅格数据读写与显示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打开数据：</a:t>
            </a:r>
            <a:r>
              <a:rPr lang="en-US" altLang="zh-CN" sz="2800" b="1" dirty="0" err="1">
                <a:solidFill>
                  <a:srgbClr val="333333"/>
                </a:solidFill>
                <a:latin typeface="+mn-ea"/>
                <a:ea typeface="+mn-ea"/>
              </a:rPr>
              <a:t>rasterio.open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2D149F-7B6C-8E87-9A6F-F69129AF0CF9}"/>
              </a:ext>
            </a:extLst>
          </p:cNvPr>
          <p:cNvSpPr txBox="1"/>
          <p:nvPr/>
        </p:nvSpPr>
        <p:spPr>
          <a:xfrm>
            <a:off x="9531210" y="6325905"/>
            <a:ext cx="2559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800" dirty="0">
                <a:solidFill>
                  <a:schemeClr val="accent2"/>
                </a:solidFill>
                <a:latin typeface="+mn-ea"/>
                <a:ea typeface="+mn-ea"/>
              </a:rPr>
              <a:t>… 附代码演示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D4857B-4468-50F6-65DD-0C2635940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40" y="2701675"/>
            <a:ext cx="11446060" cy="993777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C09AD47-AD2E-FEA0-0401-8D0205D93C61}"/>
              </a:ext>
            </a:extLst>
          </p:cNvPr>
          <p:cNvSpPr txBox="1"/>
          <p:nvPr/>
        </p:nvSpPr>
        <p:spPr>
          <a:xfrm>
            <a:off x="889000" y="4459326"/>
            <a:ext cx="1808881" cy="205838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333333"/>
                </a:solidFill>
                <a:latin typeface="+mn-ea"/>
                <a:ea typeface="+mn-ea"/>
              </a:rPr>
              <a:t>.width, 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333333"/>
                </a:solidFill>
                <a:latin typeface="+mn-ea"/>
                <a:ea typeface="+mn-ea"/>
              </a:rPr>
              <a:t>.height, 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333333"/>
                </a:solidFill>
                <a:latin typeface="+mn-ea"/>
                <a:ea typeface="+mn-ea"/>
              </a:rPr>
              <a:t>.count, 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6D0276B-C084-3CCC-84F8-0E6ED7481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670" y="3912243"/>
            <a:ext cx="3600253" cy="2672707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4C445CE-C63F-D014-D234-717310712C19}"/>
              </a:ext>
            </a:extLst>
          </p:cNvPr>
          <p:cNvSpPr txBox="1"/>
          <p:nvPr/>
        </p:nvSpPr>
        <p:spPr>
          <a:xfrm>
            <a:off x="2835275" y="4459326"/>
            <a:ext cx="1984375" cy="205838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rgbClr val="333333"/>
                </a:solidFill>
                <a:latin typeface="+mn-ea"/>
              </a:rPr>
              <a:t>.</a:t>
            </a:r>
            <a:r>
              <a:rPr lang="en-US" altLang="zh-CN" dirty="0" err="1">
                <a:solidFill>
                  <a:srgbClr val="333333"/>
                </a:solidFill>
                <a:latin typeface="+mn-ea"/>
              </a:rPr>
              <a:t>crs</a:t>
            </a:r>
            <a:r>
              <a:rPr lang="en-US" altLang="zh-CN" dirty="0">
                <a:solidFill>
                  <a:srgbClr val="333333"/>
                </a:solidFill>
                <a:latin typeface="+mn-ea"/>
              </a:rPr>
              <a:t>, 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rgbClr val="333333"/>
                </a:solidFill>
                <a:latin typeface="+mn-ea"/>
              </a:rPr>
              <a:t>.transform, 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333333"/>
                </a:solidFill>
                <a:latin typeface="+mn-ea"/>
                <a:ea typeface="+mn-ea"/>
              </a:rPr>
              <a:t>.meta…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52108F1-A17E-D84F-147D-6F3CB7B61CC8}"/>
              </a:ext>
            </a:extLst>
          </p:cNvPr>
          <p:cNvSpPr txBox="1"/>
          <p:nvPr/>
        </p:nvSpPr>
        <p:spPr>
          <a:xfrm>
            <a:off x="2053368" y="391224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信息查看</a:t>
            </a:r>
          </a:p>
        </p:txBody>
      </p:sp>
    </p:spTree>
    <p:extLst>
      <p:ext uri="{BB962C8B-B14F-4D97-AF65-F5344CB8AC3E}">
        <p14:creationId xmlns:p14="http://schemas.microsoft.com/office/powerpoint/2010/main" val="4571718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17F01-CB41-B810-D42F-DA0B32D39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6BD2DDF-DE8E-3B0F-9EFB-2E0920AD8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73" y="8526"/>
            <a:ext cx="10450699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二、栅格数据读写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7D9936-5E06-8633-48BC-0CBD85C73D8F}"/>
              </a:ext>
            </a:extLst>
          </p:cNvPr>
          <p:cNvSpPr txBox="1"/>
          <p:nvPr/>
        </p:nvSpPr>
        <p:spPr>
          <a:xfrm>
            <a:off x="495299" y="942851"/>
            <a:ext cx="5537201" cy="74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遥感栅格数据读写与显示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DDDC53-4B06-8A88-6A5A-542771F76C27}"/>
              </a:ext>
            </a:extLst>
          </p:cNvPr>
          <p:cNvSpPr txBox="1"/>
          <p:nvPr/>
        </p:nvSpPr>
        <p:spPr>
          <a:xfrm>
            <a:off x="9531210" y="6325905"/>
            <a:ext cx="2559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800" dirty="0">
                <a:solidFill>
                  <a:schemeClr val="accent2"/>
                </a:solidFill>
                <a:latin typeface="+mn-ea"/>
                <a:ea typeface="+mn-ea"/>
              </a:rPr>
              <a:t>… 附代码演示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17C9DE-D90D-6001-1B64-CD31EB303656}"/>
              </a:ext>
            </a:extLst>
          </p:cNvPr>
          <p:cNvSpPr txBox="1"/>
          <p:nvPr/>
        </p:nvSpPr>
        <p:spPr>
          <a:xfrm>
            <a:off x="5747557" y="2025646"/>
            <a:ext cx="5226049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2"/>
                </a:solidFill>
                <a:latin typeface="+mn-ea"/>
                <a:ea typeface="+mn-ea"/>
              </a:rPr>
              <a:t>数据写出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ea typeface="+mn-ea"/>
              </a:rPr>
              <a:t>：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ea typeface="+mn-ea"/>
              </a:rPr>
              <a:t>.write()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07EA4F-535E-2A5E-D65E-D773B18DA9BF}"/>
              </a:ext>
            </a:extLst>
          </p:cNvPr>
          <p:cNvSpPr txBox="1"/>
          <p:nvPr/>
        </p:nvSpPr>
        <p:spPr>
          <a:xfrm>
            <a:off x="593734" y="2024320"/>
            <a:ext cx="3800465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提取波段数组：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.read()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2B54FFD-9F60-4BED-A3A1-2322BD7F4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372" y="2766779"/>
            <a:ext cx="7314521" cy="3121378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3659CB6-1D52-39CE-7655-63DEA0DA0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136" y="2791718"/>
            <a:ext cx="3497660" cy="1265485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B6A45AE-FDB7-DBEC-7FE9-CF33BBFBDA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137" y="4711649"/>
            <a:ext cx="2950564" cy="532643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975943D6-79F8-9AD6-DF68-48AA174414AA}"/>
              </a:ext>
            </a:extLst>
          </p:cNvPr>
          <p:cNvSpPr txBox="1"/>
          <p:nvPr/>
        </p:nvSpPr>
        <p:spPr>
          <a:xfrm>
            <a:off x="757836" y="4191000"/>
            <a:ext cx="1957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输出：</a:t>
            </a:r>
          </a:p>
        </p:txBody>
      </p:sp>
    </p:spTree>
    <p:extLst>
      <p:ext uri="{BB962C8B-B14F-4D97-AF65-F5344CB8AC3E}">
        <p14:creationId xmlns:p14="http://schemas.microsoft.com/office/powerpoint/2010/main" val="166046548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0668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sz="28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3" y="3868892"/>
            <a:ext cx="102119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400" b="1">
                <a:latin typeface="微软雅黑" pitchFamily="34" charset="-122"/>
                <a:ea typeface="微软雅黑" pitchFamily="34" charset="-122"/>
              </a:rPr>
              <a:t>二、栅格数据可视化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0668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sz="28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112259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二、栅格数据可视化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1FEA2-C046-FD82-2800-2CB513792080}"/>
              </a:ext>
            </a:extLst>
          </p:cNvPr>
          <p:cNvSpPr txBox="1"/>
          <p:nvPr/>
        </p:nvSpPr>
        <p:spPr>
          <a:xfrm>
            <a:off x="114300" y="967282"/>
            <a:ext cx="977555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QGIS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软件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-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可视化（复习）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点击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properties/symbology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903F6398-8323-FC45-38C3-6C4325C9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13" y="3297800"/>
            <a:ext cx="4410387" cy="29893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90B6B6-7B57-6362-C74D-104DF1741A1C}"/>
              </a:ext>
            </a:extLst>
          </p:cNvPr>
          <p:cNvSpPr txBox="1"/>
          <p:nvPr/>
        </p:nvSpPr>
        <p:spPr>
          <a:xfrm>
            <a:off x="472313" y="2466803"/>
            <a:ext cx="43469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accent2"/>
                </a:solidFill>
                <a:latin typeface="+mn-ea"/>
                <a:ea typeface="+mn-ea"/>
              </a:rPr>
              <a:t>设置波段组会</a:t>
            </a:r>
            <a:r>
              <a:rPr lang="zh-CN" altLang="en-US" b="1" dirty="0">
                <a:solidFill>
                  <a:schemeClr val="accent2"/>
                </a:solidFill>
                <a:latin typeface="+mn-ea"/>
                <a:ea typeface="+mn-ea"/>
              </a:rPr>
              <a:t>、波段直方图拉伸等。</a:t>
            </a:r>
            <a:endParaRPr lang="en-CN" b="1" dirty="0">
              <a:solidFill>
                <a:schemeClr val="accent2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C0F4DA0-8EE9-F243-E615-E2D417ED2B1B}"/>
              </a:ext>
            </a:extLst>
          </p:cNvPr>
          <p:cNvGrpSpPr/>
          <p:nvPr/>
        </p:nvGrpSpPr>
        <p:grpSpPr>
          <a:xfrm>
            <a:off x="5392149" y="1708151"/>
            <a:ext cx="5145224" cy="4908964"/>
            <a:chOff x="5810696" y="2380048"/>
            <a:chExt cx="4462883" cy="4339087"/>
          </a:xfrm>
        </p:grpSpPr>
        <p:pic>
          <p:nvPicPr>
            <p:cNvPr id="5" name="Picture 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8CFCB247-ED31-B829-A178-BDDB7F158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10696" y="2380048"/>
              <a:ext cx="4385247" cy="4339087"/>
            </a:xfrm>
            <a:prstGeom prst="rect">
              <a:avLst/>
            </a:prstGeom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E2594D0-880E-AC04-9307-2C3FFE2B6908}"/>
                </a:ext>
              </a:extLst>
            </p:cNvPr>
            <p:cNvSpPr/>
            <p:nvPr/>
          </p:nvSpPr>
          <p:spPr>
            <a:xfrm>
              <a:off x="6639462" y="2484409"/>
              <a:ext cx="3634117" cy="168538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257986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32079" y="8526"/>
            <a:ext cx="10405293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二、栅格数据可视化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1FEA2-C046-FD82-2800-2CB513792080}"/>
              </a:ext>
            </a:extLst>
          </p:cNvPr>
          <p:cNvSpPr txBox="1"/>
          <p:nvPr/>
        </p:nvSpPr>
        <p:spPr>
          <a:xfrm>
            <a:off x="270204" y="955551"/>
            <a:ext cx="11551683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栅格数据读写与显示</a:t>
            </a:r>
            <a:endParaRPr lang="en-US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223DBD-6819-71BF-CDCA-2A5B1C0B1013}"/>
              </a:ext>
            </a:extLst>
          </p:cNvPr>
          <p:cNvSpPr txBox="1"/>
          <p:nvPr/>
        </p:nvSpPr>
        <p:spPr>
          <a:xfrm>
            <a:off x="9632585" y="6341872"/>
            <a:ext cx="2559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800" dirty="0">
                <a:solidFill>
                  <a:schemeClr val="accent2"/>
                </a:solidFill>
                <a:latin typeface="+mn-ea"/>
                <a:ea typeface="+mn-ea"/>
              </a:rPr>
              <a:t>… 附代码演示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506DD86-5997-C429-42A7-F7079D336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13" y="2310510"/>
            <a:ext cx="7760537" cy="123799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B44DEBE-4E9D-F601-30B8-1BAFCC2B0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13" y="4458515"/>
            <a:ext cx="10605337" cy="1885777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4980F6A-D570-4DC4-1A9B-D2E925ECF839}"/>
              </a:ext>
            </a:extLst>
          </p:cNvPr>
          <p:cNvSpPr txBox="1"/>
          <p:nvPr/>
        </p:nvSpPr>
        <p:spPr>
          <a:xfrm>
            <a:off x="352754" y="3737757"/>
            <a:ext cx="3488996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直方图统计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rgbClr val="333333"/>
                </a:solidFill>
                <a:latin typeface="+mn-ea"/>
                <a:ea typeface="+mn-ea"/>
              </a:rPr>
              <a:t>ax.hist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()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8616E34-DA5E-7093-4F72-5C7EAF8E6777}"/>
              </a:ext>
            </a:extLst>
          </p:cNvPr>
          <p:cNvSpPr txBox="1"/>
          <p:nvPr/>
        </p:nvSpPr>
        <p:spPr>
          <a:xfrm>
            <a:off x="370113" y="1608802"/>
            <a:ext cx="3751037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 dirty="0" err="1">
                <a:solidFill>
                  <a:srgbClr val="333333"/>
                </a:solidFill>
                <a:latin typeface="+mn-ea"/>
                <a:ea typeface="+mn-ea"/>
              </a:rPr>
              <a:t>图像显示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: </a:t>
            </a:r>
            <a:r>
              <a:rPr lang="en-US" altLang="zh-CN" dirty="0" err="1">
                <a:solidFill>
                  <a:srgbClr val="333333"/>
                </a:solidFill>
                <a:latin typeface="+mn-ea"/>
                <a:ea typeface="+mn-ea"/>
              </a:rPr>
              <a:t>ax.imshow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()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D82E884-F205-5D86-A99F-890513968D0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21" t="1296"/>
          <a:stretch>
            <a:fillRect/>
          </a:stretch>
        </p:blipFill>
        <p:spPr>
          <a:xfrm>
            <a:off x="8350252" y="908639"/>
            <a:ext cx="3194048" cy="347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5112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F5BA7-31E6-B1D1-5E56-975DCF717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C1BBCDF-87C4-3DE7-E395-00441E17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79" y="8526"/>
            <a:ext cx="10405293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二、栅格数据可视化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1DC876-D391-F1B2-8339-51EFFD586FE8}"/>
              </a:ext>
            </a:extLst>
          </p:cNvPr>
          <p:cNvSpPr txBox="1"/>
          <p:nvPr/>
        </p:nvSpPr>
        <p:spPr>
          <a:xfrm>
            <a:off x="359105" y="1006351"/>
            <a:ext cx="4610341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栅格数据读写与显示</a:t>
            </a:r>
            <a:endParaRPr lang="en-US" sz="28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栅格图像拉伸显示</a:t>
            </a:r>
            <a:r>
              <a:rPr lang="zh-CN" altLang="en-US" sz="2800" dirty="0">
                <a:solidFill>
                  <a:schemeClr val="accent2"/>
                </a:solidFill>
                <a:latin typeface="+mn-ea"/>
                <a:ea typeface="+mn-ea"/>
              </a:rPr>
              <a:t>：</a:t>
            </a:r>
            <a:endParaRPr lang="en-US" altLang="zh-CN" sz="2800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just"/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ax.imshow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(</a:t>
            </a: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vmin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=, </a:t>
            </a: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vmax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=)</a:t>
            </a:r>
          </a:p>
          <a:p>
            <a:pPr algn="just"/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注意</a:t>
            </a:r>
            <a:r>
              <a:rPr lang="en-US" altLang="zh-CN" sz="2000" dirty="0" err="1">
                <a:solidFill>
                  <a:srgbClr val="333333"/>
                </a:solidFill>
                <a:latin typeface="+mn-ea"/>
                <a:ea typeface="+mn-ea"/>
              </a:rPr>
              <a:t>vmin</a:t>
            </a:r>
            <a:r>
              <a:rPr lang="en-US" altLang="zh-CN" sz="2000" dirty="0">
                <a:solidFill>
                  <a:srgbClr val="333333"/>
                </a:solidFill>
                <a:latin typeface="+mn-ea"/>
                <a:ea typeface="+mn-ea"/>
              </a:rPr>
              <a:t>,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2000" dirty="0" err="1">
                <a:solidFill>
                  <a:srgbClr val="333333"/>
                </a:solidFill>
                <a:latin typeface="+mn-ea"/>
                <a:ea typeface="+mn-ea"/>
              </a:rPr>
              <a:t>vmax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设置对彩色显示失效。</a:t>
            </a:r>
            <a:endParaRPr lang="en-US" altLang="zh-CN" sz="20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图像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  <a:ea typeface="+mn-ea"/>
              </a:rPr>
              <a:t>RGB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彩色显示：</a:t>
            </a:r>
            <a:endParaRPr lang="en-US" altLang="zh-CN" sz="28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just"/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ax.imshow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(array_3bands) </a:t>
            </a:r>
          </a:p>
          <a:p>
            <a:pPr algn="just"/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注意：</a:t>
            </a:r>
            <a:r>
              <a:rPr lang="en-US" altLang="zh-CN" sz="2000" dirty="0">
                <a:solidFill>
                  <a:srgbClr val="333333"/>
                </a:solidFill>
                <a:latin typeface="+mn-ea"/>
                <a:ea typeface="+mn-ea"/>
              </a:rPr>
              <a:t>array_3bands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维度应为</a:t>
            </a:r>
            <a:r>
              <a:rPr lang="en-US" altLang="zh-CN" sz="2000" dirty="0">
                <a:solidFill>
                  <a:srgbClr val="333333"/>
                </a:solidFill>
                <a:latin typeface="+mn-ea"/>
                <a:ea typeface="+mn-ea"/>
              </a:rPr>
              <a:t>[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行 列 波段</a:t>
            </a:r>
            <a:r>
              <a:rPr lang="en-US" altLang="zh-CN" sz="2000" dirty="0">
                <a:solidFill>
                  <a:srgbClr val="333333"/>
                </a:solidFill>
                <a:latin typeface="+mn-ea"/>
                <a:ea typeface="+mn-ea"/>
              </a:rPr>
              <a:t>]</a:t>
            </a:r>
          </a:p>
          <a:p>
            <a:pPr algn="just"/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…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E5832A-03B9-0E48-3067-BB051F3FD0C6}"/>
              </a:ext>
            </a:extLst>
          </p:cNvPr>
          <p:cNvSpPr txBox="1"/>
          <p:nvPr/>
        </p:nvSpPr>
        <p:spPr>
          <a:xfrm>
            <a:off x="9632585" y="6341872"/>
            <a:ext cx="2559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800" dirty="0">
                <a:solidFill>
                  <a:schemeClr val="accent2"/>
                </a:solidFill>
                <a:latin typeface="+mn-ea"/>
                <a:ea typeface="+mn-ea"/>
              </a:rPr>
              <a:t>… 附代码演示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7E8DE9-CA8F-5822-DB74-69FBE99EB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700" y="2117129"/>
            <a:ext cx="3356095" cy="364018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4993A09-668F-15C8-57BF-C5A7126BB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049" y="2117130"/>
            <a:ext cx="3356095" cy="365462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2E0CC20-C64A-69EC-819B-020B4AF54ACD}"/>
              </a:ext>
            </a:extLst>
          </p:cNvPr>
          <p:cNvSpPr txBox="1"/>
          <p:nvPr/>
        </p:nvSpPr>
        <p:spPr>
          <a:xfrm>
            <a:off x="7331583" y="1547015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彩色显示结果</a:t>
            </a:r>
          </a:p>
        </p:txBody>
      </p:sp>
    </p:spTree>
    <p:extLst>
      <p:ext uri="{BB962C8B-B14F-4D97-AF65-F5344CB8AC3E}">
        <p14:creationId xmlns:p14="http://schemas.microsoft.com/office/powerpoint/2010/main" val="207658301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二、栅格数据读写与可视化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A7E693-8098-76C4-CD5D-47166ABEB164}"/>
              </a:ext>
            </a:extLst>
          </p:cNvPr>
          <p:cNvSpPr txBox="1"/>
          <p:nvPr/>
        </p:nvSpPr>
        <p:spPr>
          <a:xfrm>
            <a:off x="232349" y="1045822"/>
            <a:ext cx="10021098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课后练习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3BC878-BC57-D350-27A3-F03AE48213AC}"/>
              </a:ext>
            </a:extLst>
          </p:cNvPr>
          <p:cNvSpPr txBox="1"/>
          <p:nvPr/>
        </p:nvSpPr>
        <p:spPr>
          <a:xfrm>
            <a:off x="232348" y="1783013"/>
            <a:ext cx="9673652" cy="276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00000"/>
              </a:lnSpc>
              <a:buAutoNum type="arabicPeriod"/>
            </a:pP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练习课堂所讲内容。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marL="457200" indent="-457200" algn="just">
              <a:lnSpc>
                <a:spcPct val="200000"/>
              </a:lnSpc>
              <a:buAutoNum type="arabicPeriod"/>
            </a:pP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利用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matplotlib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库对遥感影像进行</a:t>
            </a:r>
            <a:r>
              <a:rPr lang="zh-CN" altLang="en-CN" sz="2800" dirty="0">
                <a:solidFill>
                  <a:srgbClr val="333333"/>
                </a:solidFill>
                <a:latin typeface="+mn-ea"/>
                <a:ea typeface="+mn-ea"/>
              </a:rPr>
              <a:t>假彩色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显示，显示波段组会为：近红外波段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-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红波段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-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绿波段。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2518398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</TotalTime>
  <Words>384</Words>
  <Application>Microsoft Office PowerPoint</Application>
  <PresentationFormat>宽屏</PresentationFormat>
  <Paragraphs>71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黑体</vt:lpstr>
      <vt:lpstr>微软雅黑</vt:lpstr>
      <vt:lpstr>Arial</vt:lpstr>
      <vt:lpstr>Calibri</vt:lpstr>
      <vt:lpstr>Roboto</vt:lpstr>
      <vt:lpstr>Times New Roman</vt:lpstr>
      <vt:lpstr>Wingdings</vt:lpstr>
      <vt:lpstr>2_Global</vt:lpstr>
      <vt:lpstr>1_Copyright (c) 2007-2010 NordriDesign™ _light</vt:lpstr>
      <vt:lpstr>PowerPoint 演示文稿</vt:lpstr>
      <vt:lpstr>PowerPoint 演示文稿</vt:lpstr>
      <vt:lpstr>PowerPoint 演示文稿</vt:lpstr>
      <vt:lpstr>一、栅格数据读写</vt:lpstr>
      <vt:lpstr>一、栅格数据读写</vt:lpstr>
      <vt:lpstr>二、栅格数据读写</vt:lpstr>
      <vt:lpstr>二、栅格数据读写</vt:lpstr>
      <vt:lpstr>PowerPoint 演示文稿</vt:lpstr>
      <vt:lpstr>二、栅格数据可视化</vt:lpstr>
      <vt:lpstr>二、栅格数据可视化</vt:lpstr>
      <vt:lpstr>二、栅格数据可视化</vt:lpstr>
      <vt:lpstr>二、栅格数据读写与可视化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16</cp:revision>
  <dcterms:created xsi:type="dcterms:W3CDTF">2004-07-09T11:40:27Z</dcterms:created>
  <dcterms:modified xsi:type="dcterms:W3CDTF">2026-04-16T06:36:03Z</dcterms:modified>
</cp:coreProperties>
</file>